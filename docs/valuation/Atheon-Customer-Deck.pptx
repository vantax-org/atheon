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86A3FF"/>
                </a:solidFill>
                <a:latin typeface="Space Mono"/>
              </a:rPr>
              <a:t>ATHEON  ·  BY VANTAX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EF1FB"/>
                </a:solidFill>
                <a:latin typeface="Schibsted Grotesk"/>
              </a:rPr>
              <a:t>A flowing river of value — from signal to the boardroom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B93B3"/>
                </a:solidFill>
                <a:latin typeface="IBM Plex Sans"/>
              </a:rPr>
              <a:t>External reads and your Catalysts flow into a value river that surfaces leakage across the operational value chain — then rolls up into management and executive 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735" y="2697480"/>
            <a:ext cx="2542032" cy="1847088"/>
          </a:xfrm>
          <a:prstGeom prst="roundRect">
            <a:avLst>
              <a:gd name="adj" fmla="val 8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2055" y="2990088"/>
            <a:ext cx="146304" cy="146304"/>
          </a:xfrm>
          <a:prstGeom prst="ellipse">
            <a:avLst/>
          </a:prstGeom>
          <a:solidFill>
            <a:srgbClr val="86A3FF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9799" y="2944368"/>
            <a:ext cx="1901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180">
                <a:solidFill>
                  <a:srgbClr val="8B93B3"/>
                </a:solidFill>
                <a:latin typeface="Space Mono"/>
              </a:rPr>
              <a:t>EXTERNAL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2055" y="3355848"/>
            <a:ext cx="2029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EEF1FB"/>
                </a:solidFill>
                <a:latin typeface="Schibsted Grotesk"/>
              </a:rPr>
              <a:t>Signals +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055" y="3995928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A6AECB"/>
                </a:solidFill>
                <a:latin typeface="IBM Plex Sans"/>
              </a:rPr>
              <a:t>Market, regulatory &amp; supplier reads meet your Catalysts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5799" y="2697480"/>
            <a:ext cx="2542032" cy="1847088"/>
          </a:xfrm>
          <a:prstGeom prst="roundRect">
            <a:avLst>
              <a:gd name="adj" fmla="val 8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00119" y="2990088"/>
            <a:ext cx="146304" cy="146304"/>
          </a:xfrm>
          <a:prstGeom prst="ellipse">
            <a:avLst/>
          </a:prstGeom>
          <a:solidFill>
            <a:srgbClr val="3FB3AC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7863" y="2944368"/>
            <a:ext cx="1901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180">
                <a:solidFill>
                  <a:srgbClr val="8B93B3"/>
                </a:solidFill>
                <a:latin typeface="Space Mono"/>
              </a:rPr>
              <a:t>THE RIVER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0119" y="3355848"/>
            <a:ext cx="2029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EEF1FB"/>
                </a:solidFill>
                <a:latin typeface="Schibsted Grotesk"/>
              </a:rPr>
              <a:t>Value 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0119" y="3995928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A6AECB"/>
                </a:solidFill>
                <a:latin typeface="IBM Plex Sans"/>
              </a:rPr>
              <a:t>Detects leakage priced across every value-chain stage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863" y="2697480"/>
            <a:ext cx="2542032" cy="1847088"/>
          </a:xfrm>
          <a:prstGeom prst="roundRect">
            <a:avLst>
              <a:gd name="adj" fmla="val 8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8183" y="2990088"/>
            <a:ext cx="146304" cy="146304"/>
          </a:xfrm>
          <a:prstGeom prst="ellipse">
            <a:avLst/>
          </a:prstGeom>
          <a:solidFill>
            <a:srgbClr val="FFC24D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5927" y="2944368"/>
            <a:ext cx="1901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180">
                <a:solidFill>
                  <a:srgbClr val="8B93B3"/>
                </a:solidFill>
                <a:latin typeface="Space Mono"/>
              </a:rPr>
              <a:t>ROLL-UP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8183" y="3355848"/>
            <a:ext cx="2029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EEF1FB"/>
                </a:solidFill>
                <a:latin typeface="Schibsted Grotesk"/>
              </a:rPr>
              <a:t>Management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3995928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A6AECB"/>
                </a:solidFill>
                <a:latin typeface="IBM Plex Sans"/>
              </a:rPr>
              <a:t>Where value leaks, what's recoverable, what's decided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1927" y="2697480"/>
            <a:ext cx="2542032" cy="1847088"/>
          </a:xfrm>
          <a:prstGeom prst="roundRect">
            <a:avLst>
              <a:gd name="adj" fmla="val 8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6247" y="2990088"/>
            <a:ext cx="146304" cy="146304"/>
          </a:xfrm>
          <a:prstGeom prst="ellipse">
            <a:avLst/>
          </a:prstGeom>
          <a:solidFill>
            <a:srgbClr val="2FE3A0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3991" y="2944368"/>
            <a:ext cx="1901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spc="180">
                <a:solidFill>
                  <a:srgbClr val="8B93B3"/>
                </a:solidFill>
                <a:latin typeface="Space Mono"/>
              </a:rPr>
              <a:t>BOARDROOM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6247" y="3355848"/>
            <a:ext cx="2029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EEF1FB"/>
                </a:solidFill>
                <a:latin typeface="Schibsted Grotesk"/>
              </a:rPr>
              <a:t>Executive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6247" y="3995928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A6AECB"/>
                </a:solidFill>
                <a:latin typeface="IBM Plex Sans"/>
              </a:rPr>
              <a:t>One honest number, drill-through to the transaction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83480"/>
            <a:ext cx="10908792" cy="1207008"/>
          </a:xfrm>
          <a:prstGeom prst="roundRect">
            <a:avLst>
              <a:gd name="adj" fmla="val 10000"/>
            </a:avLst>
          </a:prstGeom>
          <a:solidFill>
            <a:srgbClr val="141B32">
              <a:alpha val="66000"/>
            </a:srgbClr>
          </a:solidFill>
          <a:ln w="12700">
            <a:solidFill>
              <a:srgbClr val="86A3FF">
                <a:alpha val="34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312664"/>
            <a:ext cx="548640" cy="548640"/>
          </a:xfrm>
          <a:prstGeom prst="ellipse">
            <a:avLst/>
          </a:prstGeom>
          <a:solidFill>
            <a:srgbClr val="86A3FF"/>
          </a:solidFill>
          <a:ln>
            <a:noFill/>
          </a:ln>
          <a:effectLst>
            <a:outerShdw blurRad="90000" dist="0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76088"/>
            <a:ext cx="548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A0D17"/>
                </a:solidFill>
                <a:latin typeface="IBM Plex Sans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5221224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EF1FB"/>
                </a:solidFill>
                <a:latin typeface="Schibsted Grotesk"/>
              </a:rPr>
              <a:t>Meet Jeff — the grounded 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568696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A6AECB"/>
                </a:solidFill>
                <a:latin typeface="IBM Plex Sans"/>
              </a:rPr>
              <a:t>Jeff explains every figure in plain language and answers only from your tenant's real data — he never invents numbers. Ask any node, get the booked field behind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86A3FF"/>
                </a:solidFill>
                <a:latin typeface="Space Mono"/>
              </a:rPr>
              <a:t>WHAT YOU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EEF1FB"/>
                </a:solidFill>
                <a:latin typeface="Schibsted Grotesk"/>
              </a:rPr>
              <a:t>The whole recovery loop, on one river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1159" y="1783080"/>
            <a:ext cx="2615184" cy="2103120"/>
          </a:xfrm>
          <a:prstGeom prst="roundRect">
            <a:avLst>
              <a:gd name="adj" fmla="val 8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3767" y="2093976"/>
            <a:ext cx="146304" cy="146304"/>
          </a:xfrm>
          <a:prstGeom prst="ellipse">
            <a:avLst/>
          </a:prstGeom>
          <a:solidFill>
            <a:srgbClr val="86A3FF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767" y="2441448"/>
            <a:ext cx="2066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>
                <a:solidFill>
                  <a:srgbClr val="EEF1FB"/>
                </a:solidFill>
                <a:latin typeface="Schibsted Grotesk"/>
              </a:rPr>
              <a:t>Live Recovery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767" y="2953512"/>
            <a:ext cx="2048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ECB"/>
                </a:solidFill>
                <a:latin typeface="IBM Plex Sans"/>
              </a:rPr>
              <a:t>The flow river on every surface — signals stream in, leakage surfaces, decisions settle.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9223" y="1783080"/>
            <a:ext cx="2615184" cy="2103120"/>
          </a:xfrm>
          <a:prstGeom prst="roundRect">
            <a:avLst>
              <a:gd name="adj" fmla="val 8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1831" y="2093976"/>
            <a:ext cx="146304" cy="146304"/>
          </a:xfrm>
          <a:prstGeom prst="ellipse">
            <a:avLst/>
          </a:prstGeom>
          <a:solidFill>
            <a:srgbClr val="86A3FF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1831" y="2441448"/>
            <a:ext cx="2066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>
                <a:solidFill>
                  <a:srgbClr val="EEF1FB"/>
                </a:solidFill>
                <a:latin typeface="Schibsted Grotesk"/>
              </a:rPr>
              <a:t>External signal radar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1831" y="2953512"/>
            <a:ext cx="2048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ECB"/>
                </a:solidFill>
                <a:latin typeface="IBM Plex Sans"/>
              </a:rPr>
              <a:t>Market, regulatory and supplier reads, each with its own computed business impact.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1783080"/>
            <a:ext cx="2615184" cy="2103120"/>
          </a:xfrm>
          <a:prstGeom prst="roundRect">
            <a:avLst>
              <a:gd name="adj" fmla="val 8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9895" y="2093976"/>
            <a:ext cx="146304" cy="146304"/>
          </a:xfrm>
          <a:prstGeom prst="ellipse">
            <a:avLst/>
          </a:prstGeom>
          <a:solidFill>
            <a:srgbClr val="FFC24D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9895" y="2441448"/>
            <a:ext cx="2066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>
                <a:solidFill>
                  <a:srgbClr val="EEF1FB"/>
                </a:solidFill>
                <a:latin typeface="Schibsted Grotesk"/>
              </a:rPr>
              <a:t>Leakage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895" y="2953512"/>
            <a:ext cx="2048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ECB"/>
                </a:solidFill>
                <a:latin typeface="IBM Plex Sans"/>
              </a:rPr>
              <a:t>Priced across the value chain, drill-down from any stage straight to the transactions.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5351" y="1783080"/>
            <a:ext cx="2615184" cy="2103120"/>
          </a:xfrm>
          <a:prstGeom prst="roundRect">
            <a:avLst>
              <a:gd name="adj" fmla="val 8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77959" y="2093976"/>
            <a:ext cx="146304" cy="146304"/>
          </a:xfrm>
          <a:prstGeom prst="ellipse">
            <a:avLst/>
          </a:prstGeom>
          <a:solidFill>
            <a:srgbClr val="FF6480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77959" y="2441448"/>
            <a:ext cx="2066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>
                <a:solidFill>
                  <a:srgbClr val="EEF1FB"/>
                </a:solidFill>
                <a:latin typeface="Schibsted Grotesk"/>
              </a:rPr>
              <a:t>Decisions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7959" y="2953512"/>
            <a:ext cx="2048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ECB"/>
                </a:solidFill>
                <a:latin typeface="IBM Plex Sans"/>
              </a:rPr>
              <a:t>Every call passes a gate and lands a sealed, tamper-evident audit-chain receipt.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1159" y="4142232"/>
            <a:ext cx="2615184" cy="2103120"/>
          </a:xfrm>
          <a:prstGeom prst="roundRect">
            <a:avLst>
              <a:gd name="adj" fmla="val 8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3767" y="4453128"/>
            <a:ext cx="146304" cy="146304"/>
          </a:xfrm>
          <a:prstGeom prst="ellipse">
            <a:avLst/>
          </a:prstGeom>
          <a:solidFill>
            <a:srgbClr val="2FE3A0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767" y="4800600"/>
            <a:ext cx="2066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>
                <a:solidFill>
                  <a:srgbClr val="EEF1FB"/>
                </a:solidFill>
                <a:latin typeface="Schibsted Grotesk"/>
              </a:rPr>
              <a:t>Recovery ledger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767" y="5312664"/>
            <a:ext cx="2048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ECB"/>
                </a:solidFill>
                <a:latin typeface="IBM Plex Sans"/>
              </a:rPr>
              <a:t>Money recovered, logged with reported ROI — traceable line by 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9223" y="4142232"/>
            <a:ext cx="2615184" cy="2103120"/>
          </a:xfrm>
          <a:prstGeom prst="roundRect">
            <a:avLst>
              <a:gd name="adj" fmla="val 8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81831" y="4453128"/>
            <a:ext cx="146304" cy="146304"/>
          </a:xfrm>
          <a:prstGeom prst="ellipse">
            <a:avLst/>
          </a:prstGeom>
          <a:solidFill>
            <a:srgbClr val="3FB3AC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1831" y="4800600"/>
            <a:ext cx="2066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>
                <a:solidFill>
                  <a:srgbClr val="EEF1FB"/>
                </a:solidFill>
                <a:latin typeface="Schibsted Grotesk"/>
              </a:rPr>
              <a:t>C-suite role lenses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1831" y="5312664"/>
            <a:ext cx="2048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ECB"/>
                </a:solidFill>
                <a:latin typeface="IBM Plex Sans"/>
              </a:rPr>
              <a:t>CEO, CFO, CPO and more — each seat sees its own river, tuned to its stakes.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7287" y="4142232"/>
            <a:ext cx="2615184" cy="2103120"/>
          </a:xfrm>
          <a:prstGeom prst="roundRect">
            <a:avLst>
              <a:gd name="adj" fmla="val 8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9895" y="4453128"/>
            <a:ext cx="146304" cy="146304"/>
          </a:xfrm>
          <a:prstGeom prst="ellipse">
            <a:avLst/>
          </a:prstGeom>
          <a:solidFill>
            <a:srgbClr val="86A3FF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895" y="4800600"/>
            <a:ext cx="2066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>
                <a:solidFill>
                  <a:srgbClr val="EEF1FB"/>
                </a:solidFill>
                <a:latin typeface="Schibsted Grotesk"/>
              </a:rPr>
              <a:t>Jeff AI drill-through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895" y="5312664"/>
            <a:ext cx="2048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ECB"/>
                </a:solidFill>
                <a:latin typeface="IBM Plex Sans"/>
              </a:rPr>
              <a:t>Ask any figure; Jeff answers from booked data and cites the field or receipt.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85351" y="4142232"/>
            <a:ext cx="2615184" cy="2103120"/>
          </a:xfrm>
          <a:prstGeom prst="roundRect">
            <a:avLst>
              <a:gd name="adj" fmla="val 8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77959" y="4453128"/>
            <a:ext cx="146304" cy="146304"/>
          </a:xfrm>
          <a:prstGeom prst="ellipse">
            <a:avLst/>
          </a:prstGeom>
          <a:solidFill>
            <a:srgbClr val="8B93B3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7959" y="4800600"/>
            <a:ext cx="20665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550" b="1">
                <a:solidFill>
                  <a:srgbClr val="EEF1FB"/>
                </a:solidFill>
                <a:latin typeface="Schibsted Grotesk"/>
              </a:rPr>
              <a:t>One folded console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77959" y="5312664"/>
            <a:ext cx="20482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ECB"/>
                </a:solidFill>
                <a:latin typeface="IBM Plex Sans"/>
              </a:rPr>
              <a:t>Operations, assurance and admin folded into a single interface — no tab sprawl.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75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40">
                <a:solidFill>
                  <a:srgbClr val="86A3FF"/>
                </a:solidFill>
                <a:latin typeface="Space Mono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EEF1FB"/>
                </a:solidFill>
                <a:latin typeface="Schibsted Grotesk"/>
              </a:rPr>
              <a:t>Value to the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8B93B3"/>
                </a:solidFill>
                <a:latin typeface="IBM Plex Sans"/>
              </a:rPr>
              <a:t>Money recovered, one honest source of truth, and faster decisions — every figure traces to a booked field or a sealed receipt.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4586" y="2395728"/>
            <a:ext cx="2084831" cy="2743200"/>
          </a:xfrm>
          <a:prstGeom prst="roundRect">
            <a:avLst>
              <a:gd name="adj" fmla="val 7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0618" y="2706624"/>
            <a:ext cx="146304" cy="146304"/>
          </a:xfrm>
          <a:prstGeom prst="ellipse">
            <a:avLst/>
          </a:prstGeom>
          <a:solidFill>
            <a:srgbClr val="2FE3A0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0618" y="3017520"/>
            <a:ext cx="16093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EEF1FB"/>
                </a:solidFill>
                <a:latin typeface="Schibsted Grotesk"/>
              </a:rPr>
              <a:t>Money recovered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618" y="3694176"/>
            <a:ext cx="16093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A6AECB"/>
                </a:solidFill>
                <a:latin typeface="IBM Plex Sans"/>
              </a:rPr>
              <a:t>Value that was quietly leaking, caught and booked back into the P&amp;L.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4009" y="2395728"/>
            <a:ext cx="2084831" cy="2743200"/>
          </a:xfrm>
          <a:prstGeom prst="roundRect">
            <a:avLst>
              <a:gd name="adj" fmla="val 7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60041" y="2706624"/>
            <a:ext cx="146304" cy="146304"/>
          </a:xfrm>
          <a:prstGeom prst="ellipse">
            <a:avLst/>
          </a:prstGeom>
          <a:solidFill>
            <a:srgbClr val="2FE3A0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0041" y="3017520"/>
            <a:ext cx="16093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EEF1FB"/>
                </a:solidFill>
                <a:latin typeface="Schibsted Grotesk"/>
              </a:rPr>
              <a:t>One honest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0041" y="3694176"/>
            <a:ext cx="16093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A6AECB"/>
                </a:solidFill>
                <a:latin typeface="IBM Plex Sans"/>
              </a:rPr>
              <a:t>No invented figures — everything traces to a booked field or sealed receipt.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3432" y="2395728"/>
            <a:ext cx="2084831" cy="2743200"/>
          </a:xfrm>
          <a:prstGeom prst="roundRect">
            <a:avLst>
              <a:gd name="adj" fmla="val 7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9464" y="2706624"/>
            <a:ext cx="146304" cy="146304"/>
          </a:xfrm>
          <a:prstGeom prst="ellipse">
            <a:avLst/>
          </a:prstGeom>
          <a:solidFill>
            <a:srgbClr val="86A3FF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9464" y="3017520"/>
            <a:ext cx="16093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EEF1FB"/>
                </a:solidFill>
                <a:latin typeface="Schibsted Grotesk"/>
              </a:rPr>
              <a:t>Faster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9464" y="3694176"/>
            <a:ext cx="16093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A6AECB"/>
                </a:solidFill>
                <a:latin typeface="IBM Plex Sans"/>
              </a:rPr>
              <a:t>Executives decide with drill-down to the underlying transaction, in the same 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02855" y="2395728"/>
            <a:ext cx="2084831" cy="2743200"/>
          </a:xfrm>
          <a:prstGeom prst="roundRect">
            <a:avLst>
              <a:gd name="adj" fmla="val 7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8887" y="2706624"/>
            <a:ext cx="146304" cy="146304"/>
          </a:xfrm>
          <a:prstGeom prst="ellipse">
            <a:avLst/>
          </a:prstGeom>
          <a:solidFill>
            <a:srgbClr val="FFC24D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8887" y="3017520"/>
            <a:ext cx="16093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EEF1FB"/>
                </a:solidFill>
                <a:latin typeface="Schibsted Grotesk"/>
              </a:rPr>
              <a:t>Risk seen early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8887" y="3694176"/>
            <a:ext cx="16093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A6AECB"/>
                </a:solidFill>
                <a:latin typeface="IBM Plex Sans"/>
              </a:rPr>
              <a:t>External market, regulatory and supplier risk surfaced before it hits the P&amp;L.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2278" y="2395728"/>
            <a:ext cx="2084831" cy="2743200"/>
          </a:xfrm>
          <a:prstGeom prst="roundRect">
            <a:avLst>
              <a:gd name="adj" fmla="val 7000"/>
            </a:avLst>
          </a:prstGeom>
          <a:solidFill>
            <a:srgbClr val="10152A">
              <a:alpha val="62000"/>
            </a:srgbClr>
          </a:solidFill>
          <a:ln w="12700">
            <a:solidFill>
              <a:srgbClr val="94A3D6">
                <a:alpha val="22000"/>
              </a:srgbClr>
            </a:solidFill>
          </a:ln>
          <a:effectLst>
            <a:outerShdw blurRad="120000" dist="55000" dir="5400000" rotWithShape="0">
              <a:srgbClr val="000000">
                <a:alpha val="5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08310" y="2706624"/>
            <a:ext cx="146304" cy="146304"/>
          </a:xfrm>
          <a:prstGeom prst="ellipse">
            <a:avLst/>
          </a:prstGeom>
          <a:solidFill>
            <a:srgbClr val="3FB3AC"/>
          </a:solidFill>
          <a:ln>
            <a:noFill/>
          </a:ln>
          <a:effectLst>
            <a:outerShdw blurRad="60000" dist="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8310" y="3017520"/>
            <a:ext cx="160934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1">
                <a:solidFill>
                  <a:srgbClr val="EEF1FB"/>
                </a:solidFill>
                <a:latin typeface="Schibsted Grotesk"/>
              </a:rPr>
              <a:t>Clarity per seat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8310" y="3694176"/>
            <a:ext cx="1609343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A6AECB"/>
                </a:solidFill>
                <a:latin typeface="IBM Plex Sans"/>
              </a:rPr>
              <a:t>Role-relevant lenses give every C-suite seat its own river and its own stakes.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60">
                <a:solidFill>
                  <a:srgbClr val="8B93B3"/>
                </a:solidFill>
                <a:latin typeface="Space Mono"/>
              </a:rPr>
              <a:t>Every claim above is a capability of the platform — Atheon reports only what your data proves.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